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79" r:id="rId4"/>
    <p:sldId id="280" r:id="rId5"/>
    <p:sldId id="281" r:id="rId6"/>
    <p:sldId id="282" r:id="rId7"/>
    <p:sldId id="284" r:id="rId8"/>
    <p:sldId id="283" r:id="rId9"/>
    <p:sldId id="285" r:id="rId10"/>
    <p:sldId id="270" r:id="rId11"/>
  </p:sldIdLst>
  <p:sldSz cx="9753600" cy="73152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91" autoAdjust="0"/>
    <p:restoredTop sz="94622" autoAdjust="0"/>
  </p:normalViewPr>
  <p:slideViewPr>
    <p:cSldViewPr>
      <p:cViewPr varScale="1">
        <p:scale>
          <a:sx n="55" d="100"/>
          <a:sy n="55" d="100"/>
        </p:scale>
        <p:origin x="154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D2484A-A1A7-4948-AE9D-3B0C9E97D805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5F4828-3A8C-4702-BAD4-FDFB370BE0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516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639F4-BD2F-4EF7-B425-3C609F1462F1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EF68-429D-47A4-834B-388265EC668D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2A3C6-D292-4B8B-AA8B-E8820E0DC1D0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1BAE4-EC52-4A6E-A4B0-A295928330F6}" type="datetime1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E0E60-DD65-4946-B330-1596F7BDB1B4}" type="datetime1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A66F4-60A5-425F-9CC3-EE3C58C24434}" type="datetime1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AB72B-2165-4661-91B4-5F0B9901282E}" type="datetime1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62E36-1073-44B0-9768-2D5358E12CC0}" type="datetime1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C2BA9-FA17-4030-B61C-C938EDEE24B6}" type="datetime1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D5CAE-66A5-45F0-9EE1-EFB40D2B6D6A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F4E45-58FE-4C13-B29D-0246CDBFF3E5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46470-386C-4412-B9DC-8857ED95BA46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1.jpe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jpeg"/><Relationship Id="rId7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1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eg"/><Relationship Id="rId7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1.jpeg"/><Relationship Id="rId4" Type="http://schemas.openxmlformats.org/officeDocument/2006/relationships/image" Target="../media/image6.jpe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jpeg"/><Relationship Id="rId7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1.jpe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5.jpeg"/><Relationship Id="rId7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1.jpe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5.jpeg"/><Relationship Id="rId7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1.jpeg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5.jpeg"/><Relationship Id="rId7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1.jpeg"/><Relationship Id="rId10" Type="http://schemas.openxmlformats.org/officeDocument/2006/relationships/image" Target="../media/image17.png"/><Relationship Id="rId4" Type="http://schemas.openxmlformats.org/officeDocument/2006/relationships/image" Target="../media/image6.jpe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5.jpeg"/><Relationship Id="rId7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1.jpeg"/><Relationship Id="rId10" Type="http://schemas.openxmlformats.org/officeDocument/2006/relationships/image" Target="../media/image20.png"/><Relationship Id="rId4" Type="http://schemas.openxmlformats.org/officeDocument/2006/relationships/image" Target="../media/image6.jpe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1.jpeg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70560" y="6583680"/>
            <a:ext cx="2194560" cy="389477"/>
            <a:chOff x="0" y="0"/>
            <a:chExt cx="2926080" cy="51930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26080" cy="519303"/>
            </a:xfrm>
            <a:custGeom>
              <a:avLst/>
              <a:gdLst/>
              <a:ahLst/>
              <a:cxnLst/>
              <a:rect l="l" t="t" r="r" b="b"/>
              <a:pathLst>
                <a:path w="2926080" h="519303">
                  <a:moveTo>
                    <a:pt x="0" y="0"/>
                  </a:moveTo>
                  <a:lnTo>
                    <a:pt x="2926080" y="0"/>
                  </a:lnTo>
                  <a:lnTo>
                    <a:pt x="2926080" y="519303"/>
                  </a:lnTo>
                  <a:lnTo>
                    <a:pt x="0" y="5193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57" b="-65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79546" y="478603"/>
            <a:ext cx="4555046" cy="1098994"/>
            <a:chOff x="0" y="0"/>
            <a:chExt cx="6073394" cy="14653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073394" cy="1465326"/>
            </a:xfrm>
            <a:custGeom>
              <a:avLst/>
              <a:gdLst/>
              <a:ahLst/>
              <a:cxnLst/>
              <a:rect l="l" t="t" r="r" b="b"/>
              <a:pathLst>
                <a:path w="6073394" h="1465326">
                  <a:moveTo>
                    <a:pt x="0" y="0"/>
                  </a:moveTo>
                  <a:lnTo>
                    <a:pt x="6073394" y="0"/>
                  </a:lnTo>
                  <a:lnTo>
                    <a:pt x="6073394" y="1465326"/>
                  </a:lnTo>
                  <a:lnTo>
                    <a:pt x="0" y="1465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" b="-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4876800" y="551231"/>
            <a:ext cx="4537329" cy="953834"/>
            <a:chOff x="0" y="0"/>
            <a:chExt cx="6049772" cy="127177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049772" cy="1271778"/>
            </a:xfrm>
            <a:custGeom>
              <a:avLst/>
              <a:gdLst/>
              <a:ahLst/>
              <a:cxnLst/>
              <a:rect l="l" t="t" r="r" b="b"/>
              <a:pathLst>
                <a:path w="6049772" h="1271778">
                  <a:moveTo>
                    <a:pt x="0" y="0"/>
                  </a:moveTo>
                  <a:lnTo>
                    <a:pt x="6049772" y="0"/>
                  </a:lnTo>
                  <a:lnTo>
                    <a:pt x="6049772" y="1271778"/>
                  </a:lnTo>
                  <a:lnTo>
                    <a:pt x="0" y="1271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" r="-2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51992" y="2060810"/>
            <a:ext cx="7965132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26"/>
              </a:lnSpc>
            </a:pPr>
            <a:r>
              <a:rPr lang="en-US" sz="2771" dirty="0">
                <a:solidFill>
                  <a:schemeClr val="accent3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CSA5116 – Cryptography and Network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34380" y="2793505"/>
            <a:ext cx="758274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 of Substitution Technique and their types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4838" y="4801139"/>
            <a:ext cx="4069156" cy="14509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86" b="1" dirty="0">
                <a:latin typeface="Times New Roman"/>
                <a:ea typeface="Times New Roman"/>
                <a:cs typeface="Times New Roman"/>
                <a:sym typeface="Times New Roman"/>
              </a:rPr>
              <a:t>By:</a:t>
            </a:r>
          </a:p>
          <a:p>
            <a:pPr algn="just">
              <a:lnSpc>
                <a:spcPct val="150000"/>
              </a:lnSpc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Deva G (192421344)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dirty="0"/>
          </a:p>
        </p:txBody>
      </p:sp>
      <p:sp>
        <p:nvSpPr>
          <p:cNvPr id="11" name="TextBox 11"/>
          <p:cNvSpPr txBox="1"/>
          <p:nvPr/>
        </p:nvSpPr>
        <p:spPr>
          <a:xfrm>
            <a:off x="5918170" y="4830984"/>
            <a:ext cx="3835430" cy="10334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238" b="1" dirty="0">
                <a:latin typeface="Times New Roman"/>
                <a:ea typeface="Times New Roman"/>
                <a:cs typeface="Times New Roman"/>
                <a:sym typeface="Times New Roman"/>
              </a:rPr>
              <a:t>Name of the Guide: </a:t>
            </a:r>
          </a:p>
          <a:p>
            <a:pPr algn="just">
              <a:lnSpc>
                <a:spcPct val="150000"/>
              </a:lnSpc>
            </a:pPr>
            <a:r>
              <a:rPr lang="en-US" sz="2239" dirty="0">
                <a:latin typeface="Times New Roman"/>
                <a:ea typeface="Times New Roman"/>
                <a:cs typeface="Times New Roman"/>
                <a:sym typeface="Times New Roman"/>
              </a:rPr>
              <a:t>Dr. E. Anbalagan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7148" y="1722368"/>
            <a:ext cx="7999286" cy="844963"/>
            <a:chOff x="0" y="0"/>
            <a:chExt cx="10665714" cy="11266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665714" cy="1126617"/>
            </a:xfrm>
            <a:custGeom>
              <a:avLst/>
              <a:gdLst/>
              <a:ahLst/>
              <a:cxnLst/>
              <a:rect l="l" t="t" r="r" b="b"/>
              <a:pathLst>
                <a:path w="10665714" h="1126617">
                  <a:moveTo>
                    <a:pt x="0" y="0"/>
                  </a:moveTo>
                  <a:lnTo>
                    <a:pt x="10665714" y="0"/>
                  </a:lnTo>
                  <a:lnTo>
                    <a:pt x="10665714" y="1126617"/>
                  </a:lnTo>
                  <a:lnTo>
                    <a:pt x="0" y="112661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4336" b="-13433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74973" y="1527686"/>
            <a:ext cx="7999305" cy="837829"/>
            <a:chOff x="0" y="0"/>
            <a:chExt cx="10665739" cy="11171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65714" cy="1117092"/>
            </a:xfrm>
            <a:custGeom>
              <a:avLst/>
              <a:gdLst/>
              <a:ahLst/>
              <a:cxnLst/>
              <a:rect l="l" t="t" r="r" b="b"/>
              <a:pathLst>
                <a:path w="10665714" h="1117092">
                  <a:moveTo>
                    <a:pt x="0" y="0"/>
                  </a:moveTo>
                  <a:lnTo>
                    <a:pt x="10665714" y="0"/>
                  </a:lnTo>
                  <a:lnTo>
                    <a:pt x="10665714" y="1117092"/>
                  </a:lnTo>
                  <a:lnTo>
                    <a:pt x="0" y="1117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5908" b="-13591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74973" y="1534830"/>
            <a:ext cx="7999306" cy="947751"/>
            <a:chOff x="0" y="0"/>
            <a:chExt cx="10665740" cy="12636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665740" cy="1107580"/>
            </a:xfrm>
            <a:custGeom>
              <a:avLst/>
              <a:gdLst/>
              <a:ahLst/>
              <a:cxnLst/>
              <a:rect l="l" t="t" r="r" b="b"/>
              <a:pathLst>
                <a:path w="10665740" h="1107580">
                  <a:moveTo>
                    <a:pt x="0" y="0"/>
                  </a:moveTo>
                  <a:lnTo>
                    <a:pt x="10665740" y="0"/>
                  </a:lnTo>
                  <a:lnTo>
                    <a:pt x="10665740" y="1107580"/>
                  </a:lnTo>
                  <a:lnTo>
                    <a:pt x="0" y="1107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7636" b="-13763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165613"/>
              <a:ext cx="10665739" cy="10980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01"/>
                </a:lnSpc>
              </a:pPr>
              <a:r>
                <a:rPr lang="en-US" sz="4400" b="1" spc="-21" dirty="0"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rPr>
                <a:t>Introduction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022080" y="6583680"/>
            <a:ext cx="2194560" cy="389477"/>
            <a:chOff x="0" y="0"/>
            <a:chExt cx="2926080" cy="51930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926080" cy="519303"/>
            </a:xfrm>
            <a:custGeom>
              <a:avLst/>
              <a:gdLst/>
              <a:ahLst/>
              <a:cxnLst/>
              <a:rect l="l" t="t" r="r" b="b"/>
              <a:pathLst>
                <a:path w="2926080" h="519303">
                  <a:moveTo>
                    <a:pt x="0" y="0"/>
                  </a:moveTo>
                  <a:lnTo>
                    <a:pt x="2926080" y="0"/>
                  </a:lnTo>
                  <a:lnTo>
                    <a:pt x="2926080" y="519303"/>
                  </a:lnTo>
                  <a:lnTo>
                    <a:pt x="0" y="51930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657" b="-657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9022080" y="6555105"/>
            <a:ext cx="2194560" cy="418043"/>
            <a:chOff x="0" y="0"/>
            <a:chExt cx="2926080" cy="55739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26080" cy="557403"/>
            </a:xfrm>
            <a:custGeom>
              <a:avLst/>
              <a:gdLst/>
              <a:ahLst/>
              <a:cxnLst/>
              <a:rect l="l" t="t" r="r" b="b"/>
              <a:pathLst>
                <a:path w="2926080" h="557403">
                  <a:moveTo>
                    <a:pt x="0" y="0"/>
                  </a:moveTo>
                  <a:lnTo>
                    <a:pt x="2926080" y="0"/>
                  </a:lnTo>
                  <a:lnTo>
                    <a:pt x="2926080" y="557403"/>
                  </a:lnTo>
                  <a:lnTo>
                    <a:pt x="0" y="55740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09" b="-207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99130" y="342919"/>
            <a:ext cx="9074944" cy="1021080"/>
            <a:chOff x="0" y="0"/>
            <a:chExt cx="12099925" cy="1361440"/>
          </a:xfrm>
        </p:grpSpPr>
        <p:sp>
          <p:nvSpPr>
            <p:cNvPr id="18" name="Freeform 18" descr="SSE-Computer Science and Engineering"/>
            <p:cNvSpPr/>
            <p:nvPr/>
          </p:nvSpPr>
          <p:spPr>
            <a:xfrm>
              <a:off x="0" y="0"/>
              <a:ext cx="12099925" cy="1361440"/>
            </a:xfrm>
            <a:custGeom>
              <a:avLst/>
              <a:gdLst/>
              <a:ahLst/>
              <a:cxnLst/>
              <a:rect l="l" t="t" r="r" b="b"/>
              <a:pathLst>
                <a:path w="12099925" h="1361440">
                  <a:moveTo>
                    <a:pt x="0" y="0"/>
                  </a:moveTo>
                  <a:lnTo>
                    <a:pt x="12099925" y="0"/>
                  </a:lnTo>
                  <a:lnTo>
                    <a:pt x="12099925" y="1361440"/>
                  </a:lnTo>
                  <a:lnTo>
                    <a:pt x="0" y="1361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25" r="-425"/>
              </a:stretch>
            </a:blipFill>
          </p:spPr>
        </p:sp>
      </p:grpSp>
      <p:sp>
        <p:nvSpPr>
          <p:cNvPr id="20" name="Rectangle 2">
            <a:extLst>
              <a:ext uri="{FF2B5EF4-FFF2-40B4-BE49-F238E27FC236}">
                <a16:creationId xmlns:a16="http://schemas.microsoft.com/office/drawing/2014/main" id="{9652A83C-088E-FCA2-D20C-D95383153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773" y="4536598"/>
            <a:ext cx="9058036" cy="498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204392" y="2606791"/>
            <a:ext cx="68407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Plaintext are replaced by other letters or by numbers or symbols.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204392" y="3009528"/>
            <a:ext cx="6870693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Substitution Technique: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i) Monoalphabetic Substitution Technique</a:t>
            </a:r>
          </a:p>
          <a:p>
            <a:pPr marL="1657350" lvl="3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Caesar Cipher </a:t>
            </a:r>
          </a:p>
          <a:p>
            <a:pPr marL="1657350" lvl="3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Monoalphabetic Substitution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ii) Polyalphabetic Substitution Technique</a:t>
            </a:r>
          </a:p>
          <a:p>
            <a:pPr marL="1657350" lvl="3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Viegnere cipher</a:t>
            </a:r>
          </a:p>
          <a:p>
            <a:pPr marL="1657350" lvl="3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Playfair cipher</a:t>
            </a:r>
          </a:p>
          <a:p>
            <a:pPr marL="1657350" lvl="3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Hill cipher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83460-AEA1-AF81-46AF-BA151FA50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27A0534-26E4-A6C8-3F1F-8B592CF6AA2E}"/>
              </a:ext>
            </a:extLst>
          </p:cNvPr>
          <p:cNvGrpSpPr/>
          <p:nvPr/>
        </p:nvGrpSpPr>
        <p:grpSpPr>
          <a:xfrm>
            <a:off x="831399" y="1645920"/>
            <a:ext cx="7999286" cy="844963"/>
            <a:chOff x="0" y="0"/>
            <a:chExt cx="10665714" cy="112661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376EC2C-47A3-416C-8667-F3EBE99A845D}"/>
                </a:ext>
              </a:extLst>
            </p:cNvPr>
            <p:cNvSpPr/>
            <p:nvPr/>
          </p:nvSpPr>
          <p:spPr>
            <a:xfrm>
              <a:off x="0" y="0"/>
              <a:ext cx="10665714" cy="1126617"/>
            </a:xfrm>
            <a:custGeom>
              <a:avLst/>
              <a:gdLst/>
              <a:ahLst/>
              <a:cxnLst/>
              <a:rect l="l" t="t" r="r" b="b"/>
              <a:pathLst>
                <a:path w="10665714" h="1126617">
                  <a:moveTo>
                    <a:pt x="0" y="0"/>
                  </a:moveTo>
                  <a:lnTo>
                    <a:pt x="10665714" y="0"/>
                  </a:lnTo>
                  <a:lnTo>
                    <a:pt x="10665714" y="1126617"/>
                  </a:lnTo>
                  <a:lnTo>
                    <a:pt x="0" y="112661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4336" b="-134337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1909F055-5E8C-173B-62F2-5DEA8AB0A8B2}"/>
              </a:ext>
            </a:extLst>
          </p:cNvPr>
          <p:cNvGrpSpPr/>
          <p:nvPr/>
        </p:nvGrpSpPr>
        <p:grpSpPr>
          <a:xfrm>
            <a:off x="831399" y="1653064"/>
            <a:ext cx="7999305" cy="837829"/>
            <a:chOff x="0" y="0"/>
            <a:chExt cx="10665739" cy="111710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97E4259-4DB7-6475-4E65-FB849B0346F7}"/>
                </a:ext>
              </a:extLst>
            </p:cNvPr>
            <p:cNvSpPr/>
            <p:nvPr/>
          </p:nvSpPr>
          <p:spPr>
            <a:xfrm>
              <a:off x="0" y="0"/>
              <a:ext cx="10665714" cy="1117092"/>
            </a:xfrm>
            <a:custGeom>
              <a:avLst/>
              <a:gdLst/>
              <a:ahLst/>
              <a:cxnLst/>
              <a:rect l="l" t="t" r="r" b="b"/>
              <a:pathLst>
                <a:path w="10665714" h="1117092">
                  <a:moveTo>
                    <a:pt x="0" y="0"/>
                  </a:moveTo>
                  <a:lnTo>
                    <a:pt x="10665714" y="0"/>
                  </a:lnTo>
                  <a:lnTo>
                    <a:pt x="10665714" y="1117092"/>
                  </a:lnTo>
                  <a:lnTo>
                    <a:pt x="0" y="1117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5908" b="-135910"/>
              </a:stretch>
            </a:blipFill>
          </p:spPr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96713557-5569-94B8-A1B9-621B1D88663E}"/>
              </a:ext>
            </a:extLst>
          </p:cNvPr>
          <p:cNvGrpSpPr/>
          <p:nvPr/>
        </p:nvGrpSpPr>
        <p:grpSpPr>
          <a:xfrm>
            <a:off x="887024" y="1123910"/>
            <a:ext cx="8241210" cy="1872628"/>
            <a:chOff x="0" y="0"/>
            <a:chExt cx="10665740" cy="1880075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AD4E9FF-EE8B-2735-4E6D-5B74AF855EBF}"/>
                </a:ext>
              </a:extLst>
            </p:cNvPr>
            <p:cNvSpPr/>
            <p:nvPr/>
          </p:nvSpPr>
          <p:spPr>
            <a:xfrm>
              <a:off x="0" y="0"/>
              <a:ext cx="10665740" cy="934828"/>
            </a:xfrm>
            <a:custGeom>
              <a:avLst/>
              <a:gdLst/>
              <a:ahLst/>
              <a:cxnLst/>
              <a:rect l="l" t="t" r="r" b="b"/>
              <a:pathLst>
                <a:path w="10665740" h="934828">
                  <a:moveTo>
                    <a:pt x="0" y="0"/>
                  </a:moveTo>
                  <a:lnTo>
                    <a:pt x="10665740" y="0"/>
                  </a:lnTo>
                  <a:lnTo>
                    <a:pt x="10665740" y="934828"/>
                  </a:lnTo>
                  <a:lnTo>
                    <a:pt x="0" y="9348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3070" b="-181550"/>
              </a:stretch>
            </a:blip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79EC557F-DE95-81B9-6778-67009CF681C6}"/>
                </a:ext>
              </a:extLst>
            </p:cNvPr>
            <p:cNvSpPr txBox="1"/>
            <p:nvPr/>
          </p:nvSpPr>
          <p:spPr>
            <a:xfrm>
              <a:off x="1" y="524085"/>
              <a:ext cx="10534789" cy="13559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01"/>
                </a:lnSpc>
              </a:pPr>
              <a:r>
                <a:rPr lang="en-US" sz="4400" b="1" spc="-21" dirty="0">
                  <a:latin typeface="Times New Roman"/>
                  <a:ea typeface="Times New Roman"/>
                  <a:cs typeface="Times New Roman"/>
                  <a:sym typeface="Times New Roman"/>
                </a:rPr>
                <a:t>Encryption and Decryption Techniques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847870C4-6811-3DC8-2015-D167766AE898}"/>
              </a:ext>
            </a:extLst>
          </p:cNvPr>
          <p:cNvGrpSpPr/>
          <p:nvPr/>
        </p:nvGrpSpPr>
        <p:grpSpPr>
          <a:xfrm>
            <a:off x="9022080" y="6719145"/>
            <a:ext cx="2194560" cy="389477"/>
            <a:chOff x="0" y="0"/>
            <a:chExt cx="2926080" cy="51930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2DCE917-4162-52C5-5D58-1513ADA6A495}"/>
                </a:ext>
              </a:extLst>
            </p:cNvPr>
            <p:cNvSpPr/>
            <p:nvPr/>
          </p:nvSpPr>
          <p:spPr>
            <a:xfrm>
              <a:off x="0" y="0"/>
              <a:ext cx="2926080" cy="519303"/>
            </a:xfrm>
            <a:custGeom>
              <a:avLst/>
              <a:gdLst/>
              <a:ahLst/>
              <a:cxnLst/>
              <a:rect l="l" t="t" r="r" b="b"/>
              <a:pathLst>
                <a:path w="2926080" h="519303">
                  <a:moveTo>
                    <a:pt x="0" y="0"/>
                  </a:moveTo>
                  <a:lnTo>
                    <a:pt x="2926080" y="0"/>
                  </a:lnTo>
                  <a:lnTo>
                    <a:pt x="2926080" y="519303"/>
                  </a:lnTo>
                  <a:lnTo>
                    <a:pt x="0" y="51930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657" b="-657"/>
              </a:stretch>
            </a:blipFill>
          </p:spPr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C3A0088-33D9-63C2-E665-54599CAF9767}"/>
              </a:ext>
            </a:extLst>
          </p:cNvPr>
          <p:cNvGrpSpPr/>
          <p:nvPr/>
        </p:nvGrpSpPr>
        <p:grpSpPr>
          <a:xfrm>
            <a:off x="9022080" y="6690570"/>
            <a:ext cx="2194560" cy="418043"/>
            <a:chOff x="0" y="0"/>
            <a:chExt cx="2926080" cy="55739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D0BB38D2-053E-A73D-D33E-65C1B2A33D60}"/>
                </a:ext>
              </a:extLst>
            </p:cNvPr>
            <p:cNvSpPr/>
            <p:nvPr/>
          </p:nvSpPr>
          <p:spPr>
            <a:xfrm>
              <a:off x="0" y="0"/>
              <a:ext cx="2926080" cy="557403"/>
            </a:xfrm>
            <a:custGeom>
              <a:avLst/>
              <a:gdLst/>
              <a:ahLst/>
              <a:cxnLst/>
              <a:rect l="l" t="t" r="r" b="b"/>
              <a:pathLst>
                <a:path w="2926080" h="557403">
                  <a:moveTo>
                    <a:pt x="0" y="0"/>
                  </a:moveTo>
                  <a:lnTo>
                    <a:pt x="2926080" y="0"/>
                  </a:lnTo>
                  <a:lnTo>
                    <a:pt x="2926080" y="557403"/>
                  </a:lnTo>
                  <a:lnTo>
                    <a:pt x="0" y="55740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09" b="-207"/>
              </a:stretch>
            </a:blipFill>
          </p:spPr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606357E9-CAE2-9875-040D-A58873F5F35B}"/>
              </a:ext>
            </a:extLst>
          </p:cNvPr>
          <p:cNvGrpSpPr/>
          <p:nvPr/>
        </p:nvGrpSpPr>
        <p:grpSpPr>
          <a:xfrm>
            <a:off x="132826" y="426234"/>
            <a:ext cx="9487948" cy="1036796"/>
            <a:chOff x="0" y="0"/>
            <a:chExt cx="12650597" cy="1382395"/>
          </a:xfrm>
        </p:grpSpPr>
        <p:sp>
          <p:nvSpPr>
            <p:cNvPr id="17" name="Freeform 17" descr="SSE-Computer Science and Engineering">
              <a:extLst>
                <a:ext uri="{FF2B5EF4-FFF2-40B4-BE49-F238E27FC236}">
                  <a16:creationId xmlns:a16="http://schemas.microsoft.com/office/drawing/2014/main" id="{D7133FA5-4F71-A436-BEE3-8840887E6E49}"/>
                </a:ext>
              </a:extLst>
            </p:cNvPr>
            <p:cNvSpPr/>
            <p:nvPr/>
          </p:nvSpPr>
          <p:spPr>
            <a:xfrm>
              <a:off x="0" y="0"/>
              <a:ext cx="12650597" cy="1382395"/>
            </a:xfrm>
            <a:custGeom>
              <a:avLst/>
              <a:gdLst/>
              <a:ahLst/>
              <a:cxnLst/>
              <a:rect l="l" t="t" r="r" b="b"/>
              <a:pathLst>
                <a:path w="12650597" h="1382395">
                  <a:moveTo>
                    <a:pt x="0" y="0"/>
                  </a:moveTo>
                  <a:lnTo>
                    <a:pt x="12650597" y="0"/>
                  </a:lnTo>
                  <a:lnTo>
                    <a:pt x="12650597" y="1382395"/>
                  </a:lnTo>
                  <a:lnTo>
                    <a:pt x="0" y="1382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048" b="-1049"/>
              </a:stretch>
            </a:blipFill>
          </p:spPr>
        </p:sp>
      </p:grpSp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069" y="2996538"/>
            <a:ext cx="8980965" cy="3501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910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7148" y="1722368"/>
            <a:ext cx="7999286" cy="844963"/>
            <a:chOff x="0" y="0"/>
            <a:chExt cx="10665714" cy="11266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665714" cy="1126617"/>
            </a:xfrm>
            <a:custGeom>
              <a:avLst/>
              <a:gdLst/>
              <a:ahLst/>
              <a:cxnLst/>
              <a:rect l="l" t="t" r="r" b="b"/>
              <a:pathLst>
                <a:path w="10665714" h="1126617">
                  <a:moveTo>
                    <a:pt x="0" y="0"/>
                  </a:moveTo>
                  <a:lnTo>
                    <a:pt x="10665714" y="0"/>
                  </a:lnTo>
                  <a:lnTo>
                    <a:pt x="10665714" y="1126617"/>
                  </a:lnTo>
                  <a:lnTo>
                    <a:pt x="0" y="112661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4336" b="-13433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74973" y="1527686"/>
            <a:ext cx="7999305" cy="837829"/>
            <a:chOff x="0" y="0"/>
            <a:chExt cx="10665739" cy="11171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65714" cy="1117092"/>
            </a:xfrm>
            <a:custGeom>
              <a:avLst/>
              <a:gdLst/>
              <a:ahLst/>
              <a:cxnLst/>
              <a:rect l="l" t="t" r="r" b="b"/>
              <a:pathLst>
                <a:path w="10665714" h="1117092">
                  <a:moveTo>
                    <a:pt x="0" y="0"/>
                  </a:moveTo>
                  <a:lnTo>
                    <a:pt x="10665714" y="0"/>
                  </a:lnTo>
                  <a:lnTo>
                    <a:pt x="10665714" y="1117092"/>
                  </a:lnTo>
                  <a:lnTo>
                    <a:pt x="0" y="1117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5908" b="-13591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74973" y="1534830"/>
            <a:ext cx="7999306" cy="947751"/>
            <a:chOff x="0" y="0"/>
            <a:chExt cx="10665740" cy="12636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665740" cy="1107580"/>
            </a:xfrm>
            <a:custGeom>
              <a:avLst/>
              <a:gdLst/>
              <a:ahLst/>
              <a:cxnLst/>
              <a:rect l="l" t="t" r="r" b="b"/>
              <a:pathLst>
                <a:path w="10665740" h="1107580">
                  <a:moveTo>
                    <a:pt x="0" y="0"/>
                  </a:moveTo>
                  <a:lnTo>
                    <a:pt x="10665740" y="0"/>
                  </a:lnTo>
                  <a:lnTo>
                    <a:pt x="10665740" y="1107580"/>
                  </a:lnTo>
                  <a:lnTo>
                    <a:pt x="0" y="1107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7636" b="-13763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165613"/>
              <a:ext cx="10665739" cy="10980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01"/>
                </a:lnSpc>
              </a:pPr>
              <a:r>
                <a:rPr lang="en-US" sz="4400" b="1" spc="-21" dirty="0"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rPr>
                <a:t>Caesar Cipher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022080" y="6583680"/>
            <a:ext cx="2194560" cy="389477"/>
            <a:chOff x="0" y="0"/>
            <a:chExt cx="2926080" cy="51930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926080" cy="519303"/>
            </a:xfrm>
            <a:custGeom>
              <a:avLst/>
              <a:gdLst/>
              <a:ahLst/>
              <a:cxnLst/>
              <a:rect l="l" t="t" r="r" b="b"/>
              <a:pathLst>
                <a:path w="2926080" h="519303">
                  <a:moveTo>
                    <a:pt x="0" y="0"/>
                  </a:moveTo>
                  <a:lnTo>
                    <a:pt x="2926080" y="0"/>
                  </a:lnTo>
                  <a:lnTo>
                    <a:pt x="2926080" y="519303"/>
                  </a:lnTo>
                  <a:lnTo>
                    <a:pt x="0" y="51930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657" b="-657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9022080" y="6555105"/>
            <a:ext cx="2194560" cy="418043"/>
            <a:chOff x="0" y="0"/>
            <a:chExt cx="2926080" cy="55739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26080" cy="557403"/>
            </a:xfrm>
            <a:custGeom>
              <a:avLst/>
              <a:gdLst/>
              <a:ahLst/>
              <a:cxnLst/>
              <a:rect l="l" t="t" r="r" b="b"/>
              <a:pathLst>
                <a:path w="2926080" h="557403">
                  <a:moveTo>
                    <a:pt x="0" y="0"/>
                  </a:moveTo>
                  <a:lnTo>
                    <a:pt x="2926080" y="0"/>
                  </a:lnTo>
                  <a:lnTo>
                    <a:pt x="2926080" y="557403"/>
                  </a:lnTo>
                  <a:lnTo>
                    <a:pt x="0" y="55740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09" b="-207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99130" y="342919"/>
            <a:ext cx="9074944" cy="1021080"/>
            <a:chOff x="0" y="0"/>
            <a:chExt cx="12099925" cy="1361440"/>
          </a:xfrm>
        </p:grpSpPr>
        <p:sp>
          <p:nvSpPr>
            <p:cNvPr id="18" name="Freeform 18" descr="SSE-Computer Science and Engineering"/>
            <p:cNvSpPr/>
            <p:nvPr/>
          </p:nvSpPr>
          <p:spPr>
            <a:xfrm>
              <a:off x="0" y="0"/>
              <a:ext cx="12099925" cy="1361440"/>
            </a:xfrm>
            <a:custGeom>
              <a:avLst/>
              <a:gdLst/>
              <a:ahLst/>
              <a:cxnLst/>
              <a:rect l="l" t="t" r="r" b="b"/>
              <a:pathLst>
                <a:path w="12099925" h="1361440">
                  <a:moveTo>
                    <a:pt x="0" y="0"/>
                  </a:moveTo>
                  <a:lnTo>
                    <a:pt x="12099925" y="0"/>
                  </a:lnTo>
                  <a:lnTo>
                    <a:pt x="12099925" y="1361440"/>
                  </a:lnTo>
                  <a:lnTo>
                    <a:pt x="0" y="1361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25" r="-425"/>
              </a:stretch>
            </a:blipFill>
          </p:spPr>
        </p: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740" y="2750870"/>
            <a:ext cx="7786097" cy="109729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80456" y="5925578"/>
            <a:ext cx="2016224" cy="73736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07740" y="5490936"/>
            <a:ext cx="68596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740" y="3960713"/>
            <a:ext cx="504056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 text: GOODMORNING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Key: 3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Encrypted text / Cipher text: JRRGPRUQLQJ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Key: 3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Decrypted text / original text: GOODMORNING</a:t>
            </a:r>
          </a:p>
        </p:txBody>
      </p:sp>
    </p:spTree>
    <p:extLst>
      <p:ext uri="{BB962C8B-B14F-4D97-AF65-F5344CB8AC3E}">
        <p14:creationId xmlns:p14="http://schemas.microsoft.com/office/powerpoint/2010/main" val="2940084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7148" y="1722368"/>
            <a:ext cx="7999286" cy="844963"/>
            <a:chOff x="0" y="0"/>
            <a:chExt cx="10665714" cy="11266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665714" cy="1126617"/>
            </a:xfrm>
            <a:custGeom>
              <a:avLst/>
              <a:gdLst/>
              <a:ahLst/>
              <a:cxnLst/>
              <a:rect l="l" t="t" r="r" b="b"/>
              <a:pathLst>
                <a:path w="10665714" h="1126617">
                  <a:moveTo>
                    <a:pt x="0" y="0"/>
                  </a:moveTo>
                  <a:lnTo>
                    <a:pt x="10665714" y="0"/>
                  </a:lnTo>
                  <a:lnTo>
                    <a:pt x="10665714" y="1126617"/>
                  </a:lnTo>
                  <a:lnTo>
                    <a:pt x="0" y="112661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4336" b="-13433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74973" y="1527686"/>
            <a:ext cx="7999305" cy="837829"/>
            <a:chOff x="0" y="0"/>
            <a:chExt cx="10665739" cy="11171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65714" cy="1117092"/>
            </a:xfrm>
            <a:custGeom>
              <a:avLst/>
              <a:gdLst/>
              <a:ahLst/>
              <a:cxnLst/>
              <a:rect l="l" t="t" r="r" b="b"/>
              <a:pathLst>
                <a:path w="10665714" h="1117092">
                  <a:moveTo>
                    <a:pt x="0" y="0"/>
                  </a:moveTo>
                  <a:lnTo>
                    <a:pt x="10665714" y="0"/>
                  </a:lnTo>
                  <a:lnTo>
                    <a:pt x="10665714" y="1117092"/>
                  </a:lnTo>
                  <a:lnTo>
                    <a:pt x="0" y="1117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5908" b="-13591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74973" y="1534830"/>
            <a:ext cx="7999306" cy="947751"/>
            <a:chOff x="0" y="0"/>
            <a:chExt cx="10665740" cy="12636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665740" cy="1107580"/>
            </a:xfrm>
            <a:custGeom>
              <a:avLst/>
              <a:gdLst/>
              <a:ahLst/>
              <a:cxnLst/>
              <a:rect l="l" t="t" r="r" b="b"/>
              <a:pathLst>
                <a:path w="10665740" h="1107580">
                  <a:moveTo>
                    <a:pt x="0" y="0"/>
                  </a:moveTo>
                  <a:lnTo>
                    <a:pt x="10665740" y="0"/>
                  </a:lnTo>
                  <a:lnTo>
                    <a:pt x="10665740" y="1107580"/>
                  </a:lnTo>
                  <a:lnTo>
                    <a:pt x="0" y="1107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7636" b="-13763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165613"/>
              <a:ext cx="10665739" cy="10980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01"/>
                </a:lnSpc>
              </a:pPr>
              <a:r>
                <a:rPr lang="en-US" sz="4400" b="1" spc="-21" dirty="0"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rPr>
                <a:t>Monoalphabetic Substitution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022080" y="6583680"/>
            <a:ext cx="2194560" cy="389477"/>
            <a:chOff x="0" y="0"/>
            <a:chExt cx="2926080" cy="51930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926080" cy="519303"/>
            </a:xfrm>
            <a:custGeom>
              <a:avLst/>
              <a:gdLst/>
              <a:ahLst/>
              <a:cxnLst/>
              <a:rect l="l" t="t" r="r" b="b"/>
              <a:pathLst>
                <a:path w="2926080" h="519303">
                  <a:moveTo>
                    <a:pt x="0" y="0"/>
                  </a:moveTo>
                  <a:lnTo>
                    <a:pt x="2926080" y="0"/>
                  </a:lnTo>
                  <a:lnTo>
                    <a:pt x="2926080" y="519303"/>
                  </a:lnTo>
                  <a:lnTo>
                    <a:pt x="0" y="51930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657" b="-657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9022080" y="6555105"/>
            <a:ext cx="2194560" cy="418043"/>
            <a:chOff x="0" y="0"/>
            <a:chExt cx="2926080" cy="55739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26080" cy="557403"/>
            </a:xfrm>
            <a:custGeom>
              <a:avLst/>
              <a:gdLst/>
              <a:ahLst/>
              <a:cxnLst/>
              <a:rect l="l" t="t" r="r" b="b"/>
              <a:pathLst>
                <a:path w="2926080" h="557403">
                  <a:moveTo>
                    <a:pt x="0" y="0"/>
                  </a:moveTo>
                  <a:lnTo>
                    <a:pt x="2926080" y="0"/>
                  </a:lnTo>
                  <a:lnTo>
                    <a:pt x="2926080" y="557403"/>
                  </a:lnTo>
                  <a:lnTo>
                    <a:pt x="0" y="55740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09" b="-207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99130" y="342919"/>
            <a:ext cx="9074944" cy="1021080"/>
            <a:chOff x="0" y="0"/>
            <a:chExt cx="12099925" cy="1361440"/>
          </a:xfrm>
        </p:grpSpPr>
        <p:sp>
          <p:nvSpPr>
            <p:cNvPr id="18" name="Freeform 18" descr="SSE-Computer Science and Engineering"/>
            <p:cNvSpPr/>
            <p:nvPr/>
          </p:nvSpPr>
          <p:spPr>
            <a:xfrm>
              <a:off x="0" y="0"/>
              <a:ext cx="12099925" cy="1361440"/>
            </a:xfrm>
            <a:custGeom>
              <a:avLst/>
              <a:gdLst/>
              <a:ahLst/>
              <a:cxnLst/>
              <a:rect l="l" t="t" r="r" b="b"/>
              <a:pathLst>
                <a:path w="12099925" h="1361440">
                  <a:moveTo>
                    <a:pt x="0" y="0"/>
                  </a:moveTo>
                  <a:lnTo>
                    <a:pt x="12099925" y="0"/>
                  </a:lnTo>
                  <a:lnTo>
                    <a:pt x="12099925" y="1361440"/>
                  </a:lnTo>
                  <a:lnTo>
                    <a:pt x="0" y="1361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25" r="-425"/>
              </a:stretch>
            </a:blipFill>
          </p:spPr>
        </p: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32223" y="2939339"/>
            <a:ext cx="6884785" cy="246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958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7148" y="1722368"/>
            <a:ext cx="7999286" cy="844963"/>
            <a:chOff x="0" y="0"/>
            <a:chExt cx="10665714" cy="11266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665714" cy="1126617"/>
            </a:xfrm>
            <a:custGeom>
              <a:avLst/>
              <a:gdLst/>
              <a:ahLst/>
              <a:cxnLst/>
              <a:rect l="l" t="t" r="r" b="b"/>
              <a:pathLst>
                <a:path w="10665714" h="1126617">
                  <a:moveTo>
                    <a:pt x="0" y="0"/>
                  </a:moveTo>
                  <a:lnTo>
                    <a:pt x="10665714" y="0"/>
                  </a:lnTo>
                  <a:lnTo>
                    <a:pt x="10665714" y="1126617"/>
                  </a:lnTo>
                  <a:lnTo>
                    <a:pt x="0" y="112661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4336" b="-13433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74973" y="1527686"/>
            <a:ext cx="7999305" cy="837829"/>
            <a:chOff x="0" y="0"/>
            <a:chExt cx="10665739" cy="11171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65714" cy="1117092"/>
            </a:xfrm>
            <a:custGeom>
              <a:avLst/>
              <a:gdLst/>
              <a:ahLst/>
              <a:cxnLst/>
              <a:rect l="l" t="t" r="r" b="b"/>
              <a:pathLst>
                <a:path w="10665714" h="1117092">
                  <a:moveTo>
                    <a:pt x="0" y="0"/>
                  </a:moveTo>
                  <a:lnTo>
                    <a:pt x="10665714" y="0"/>
                  </a:lnTo>
                  <a:lnTo>
                    <a:pt x="10665714" y="1117092"/>
                  </a:lnTo>
                  <a:lnTo>
                    <a:pt x="0" y="1117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5908" b="-13591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74973" y="1534830"/>
            <a:ext cx="7999306" cy="947751"/>
            <a:chOff x="0" y="0"/>
            <a:chExt cx="10665740" cy="12636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665740" cy="1107580"/>
            </a:xfrm>
            <a:custGeom>
              <a:avLst/>
              <a:gdLst/>
              <a:ahLst/>
              <a:cxnLst/>
              <a:rect l="l" t="t" r="r" b="b"/>
              <a:pathLst>
                <a:path w="10665740" h="1107580">
                  <a:moveTo>
                    <a:pt x="0" y="0"/>
                  </a:moveTo>
                  <a:lnTo>
                    <a:pt x="10665740" y="0"/>
                  </a:lnTo>
                  <a:lnTo>
                    <a:pt x="10665740" y="1107580"/>
                  </a:lnTo>
                  <a:lnTo>
                    <a:pt x="0" y="1107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7636" b="-13763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165613"/>
              <a:ext cx="10665739" cy="10980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01"/>
                </a:lnSpc>
              </a:pPr>
              <a:r>
                <a:rPr lang="en-US" sz="4400" b="1" spc="-21" dirty="0"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rPr>
                <a:t>PlayFair Cipher 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022080" y="6583680"/>
            <a:ext cx="2194560" cy="389477"/>
            <a:chOff x="0" y="0"/>
            <a:chExt cx="2926080" cy="51930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926080" cy="519303"/>
            </a:xfrm>
            <a:custGeom>
              <a:avLst/>
              <a:gdLst/>
              <a:ahLst/>
              <a:cxnLst/>
              <a:rect l="l" t="t" r="r" b="b"/>
              <a:pathLst>
                <a:path w="2926080" h="519303">
                  <a:moveTo>
                    <a:pt x="0" y="0"/>
                  </a:moveTo>
                  <a:lnTo>
                    <a:pt x="2926080" y="0"/>
                  </a:lnTo>
                  <a:lnTo>
                    <a:pt x="2926080" y="519303"/>
                  </a:lnTo>
                  <a:lnTo>
                    <a:pt x="0" y="51930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657" b="-657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9022080" y="6555105"/>
            <a:ext cx="2194560" cy="418043"/>
            <a:chOff x="0" y="0"/>
            <a:chExt cx="2926080" cy="55739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26080" cy="557403"/>
            </a:xfrm>
            <a:custGeom>
              <a:avLst/>
              <a:gdLst/>
              <a:ahLst/>
              <a:cxnLst/>
              <a:rect l="l" t="t" r="r" b="b"/>
              <a:pathLst>
                <a:path w="2926080" h="557403">
                  <a:moveTo>
                    <a:pt x="0" y="0"/>
                  </a:moveTo>
                  <a:lnTo>
                    <a:pt x="2926080" y="0"/>
                  </a:lnTo>
                  <a:lnTo>
                    <a:pt x="2926080" y="557403"/>
                  </a:lnTo>
                  <a:lnTo>
                    <a:pt x="0" y="55740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09" b="-207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99130" y="342919"/>
            <a:ext cx="9074944" cy="1021080"/>
            <a:chOff x="0" y="0"/>
            <a:chExt cx="12099925" cy="1361440"/>
          </a:xfrm>
        </p:grpSpPr>
        <p:sp>
          <p:nvSpPr>
            <p:cNvPr id="18" name="Freeform 18" descr="SSE-Computer Science and Engineering"/>
            <p:cNvSpPr/>
            <p:nvPr/>
          </p:nvSpPr>
          <p:spPr>
            <a:xfrm>
              <a:off x="0" y="0"/>
              <a:ext cx="12099925" cy="1361440"/>
            </a:xfrm>
            <a:custGeom>
              <a:avLst/>
              <a:gdLst/>
              <a:ahLst/>
              <a:cxnLst/>
              <a:rect l="l" t="t" r="r" b="b"/>
              <a:pathLst>
                <a:path w="12099925" h="1361440">
                  <a:moveTo>
                    <a:pt x="0" y="0"/>
                  </a:moveTo>
                  <a:lnTo>
                    <a:pt x="12099925" y="0"/>
                  </a:lnTo>
                  <a:lnTo>
                    <a:pt x="12099925" y="1361440"/>
                  </a:lnTo>
                  <a:lnTo>
                    <a:pt x="0" y="1361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25" r="-425"/>
              </a:stretch>
            </a:blipFill>
          </p:spPr>
        </p:sp>
      </p:grpSp>
      <p:sp>
        <p:nvSpPr>
          <p:cNvPr id="19" name="Rectangle 18"/>
          <p:cNvSpPr/>
          <p:nvPr/>
        </p:nvSpPr>
        <p:spPr>
          <a:xfrm>
            <a:off x="774973" y="2840950"/>
            <a:ext cx="539797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technique, multiple of 2 letter are encrypted at a time.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5x5 matrix it should be in.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letter should not be same.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be in same rows.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be in same column.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contain in different row and different column. 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9491" y="2677263"/>
            <a:ext cx="2924583" cy="2591162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349491" y="5345330"/>
            <a:ext cx="338437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word: Monarchy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 Text: instrument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Cipher text: ?</a:t>
            </a:r>
          </a:p>
        </p:txBody>
      </p:sp>
    </p:spTree>
    <p:extLst>
      <p:ext uri="{BB962C8B-B14F-4D97-AF65-F5344CB8AC3E}">
        <p14:creationId xmlns:p14="http://schemas.microsoft.com/office/powerpoint/2010/main" val="3524536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7148" y="1722368"/>
            <a:ext cx="7999286" cy="844963"/>
            <a:chOff x="0" y="0"/>
            <a:chExt cx="10665714" cy="11266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665714" cy="1126617"/>
            </a:xfrm>
            <a:custGeom>
              <a:avLst/>
              <a:gdLst/>
              <a:ahLst/>
              <a:cxnLst/>
              <a:rect l="l" t="t" r="r" b="b"/>
              <a:pathLst>
                <a:path w="10665714" h="1126617">
                  <a:moveTo>
                    <a:pt x="0" y="0"/>
                  </a:moveTo>
                  <a:lnTo>
                    <a:pt x="10665714" y="0"/>
                  </a:lnTo>
                  <a:lnTo>
                    <a:pt x="10665714" y="1126617"/>
                  </a:lnTo>
                  <a:lnTo>
                    <a:pt x="0" y="112661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4336" b="-13433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74973" y="1527686"/>
            <a:ext cx="7999305" cy="837829"/>
            <a:chOff x="0" y="0"/>
            <a:chExt cx="10665739" cy="11171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65714" cy="1117092"/>
            </a:xfrm>
            <a:custGeom>
              <a:avLst/>
              <a:gdLst/>
              <a:ahLst/>
              <a:cxnLst/>
              <a:rect l="l" t="t" r="r" b="b"/>
              <a:pathLst>
                <a:path w="10665714" h="1117092">
                  <a:moveTo>
                    <a:pt x="0" y="0"/>
                  </a:moveTo>
                  <a:lnTo>
                    <a:pt x="10665714" y="0"/>
                  </a:lnTo>
                  <a:lnTo>
                    <a:pt x="10665714" y="1117092"/>
                  </a:lnTo>
                  <a:lnTo>
                    <a:pt x="0" y="1117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5908" b="-13591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74973" y="1534830"/>
            <a:ext cx="7999306" cy="947751"/>
            <a:chOff x="0" y="0"/>
            <a:chExt cx="10665740" cy="12636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665740" cy="1107580"/>
            </a:xfrm>
            <a:custGeom>
              <a:avLst/>
              <a:gdLst/>
              <a:ahLst/>
              <a:cxnLst/>
              <a:rect l="l" t="t" r="r" b="b"/>
              <a:pathLst>
                <a:path w="10665740" h="1107580">
                  <a:moveTo>
                    <a:pt x="0" y="0"/>
                  </a:moveTo>
                  <a:lnTo>
                    <a:pt x="10665740" y="0"/>
                  </a:lnTo>
                  <a:lnTo>
                    <a:pt x="10665740" y="1107580"/>
                  </a:lnTo>
                  <a:lnTo>
                    <a:pt x="0" y="1107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7636" b="-13763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165613"/>
              <a:ext cx="10665739" cy="10980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01"/>
                </a:lnSpc>
              </a:pPr>
              <a:r>
                <a:rPr lang="en-US" sz="4400" b="1" spc="-21" dirty="0"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rPr>
                <a:t>PlayFair Cipher 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022080" y="6583680"/>
            <a:ext cx="2194560" cy="389477"/>
            <a:chOff x="0" y="0"/>
            <a:chExt cx="2926080" cy="51930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926080" cy="519303"/>
            </a:xfrm>
            <a:custGeom>
              <a:avLst/>
              <a:gdLst/>
              <a:ahLst/>
              <a:cxnLst/>
              <a:rect l="l" t="t" r="r" b="b"/>
              <a:pathLst>
                <a:path w="2926080" h="519303">
                  <a:moveTo>
                    <a:pt x="0" y="0"/>
                  </a:moveTo>
                  <a:lnTo>
                    <a:pt x="2926080" y="0"/>
                  </a:lnTo>
                  <a:lnTo>
                    <a:pt x="2926080" y="519303"/>
                  </a:lnTo>
                  <a:lnTo>
                    <a:pt x="0" y="51930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657" b="-657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9022080" y="6555105"/>
            <a:ext cx="2194560" cy="418043"/>
            <a:chOff x="0" y="0"/>
            <a:chExt cx="2926080" cy="55739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26080" cy="557403"/>
            </a:xfrm>
            <a:custGeom>
              <a:avLst/>
              <a:gdLst/>
              <a:ahLst/>
              <a:cxnLst/>
              <a:rect l="l" t="t" r="r" b="b"/>
              <a:pathLst>
                <a:path w="2926080" h="557403">
                  <a:moveTo>
                    <a:pt x="0" y="0"/>
                  </a:moveTo>
                  <a:lnTo>
                    <a:pt x="2926080" y="0"/>
                  </a:lnTo>
                  <a:lnTo>
                    <a:pt x="2926080" y="557403"/>
                  </a:lnTo>
                  <a:lnTo>
                    <a:pt x="0" y="55740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09" b="-207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99130" y="342919"/>
            <a:ext cx="9074944" cy="1021080"/>
            <a:chOff x="0" y="0"/>
            <a:chExt cx="12099925" cy="1361440"/>
          </a:xfrm>
        </p:grpSpPr>
        <p:sp>
          <p:nvSpPr>
            <p:cNvPr id="18" name="Freeform 18" descr="SSE-Computer Science and Engineering"/>
            <p:cNvSpPr/>
            <p:nvPr/>
          </p:nvSpPr>
          <p:spPr>
            <a:xfrm>
              <a:off x="0" y="0"/>
              <a:ext cx="12099925" cy="1361440"/>
            </a:xfrm>
            <a:custGeom>
              <a:avLst/>
              <a:gdLst/>
              <a:ahLst/>
              <a:cxnLst/>
              <a:rect l="l" t="t" r="r" b="b"/>
              <a:pathLst>
                <a:path w="12099925" h="1361440">
                  <a:moveTo>
                    <a:pt x="0" y="0"/>
                  </a:moveTo>
                  <a:lnTo>
                    <a:pt x="12099925" y="0"/>
                  </a:lnTo>
                  <a:lnTo>
                    <a:pt x="12099925" y="1361440"/>
                  </a:lnTo>
                  <a:lnTo>
                    <a:pt x="0" y="1361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25" r="-425"/>
              </a:stretch>
            </a:blipFill>
          </p:spPr>
        </p: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3609" y="2584574"/>
            <a:ext cx="8980465" cy="333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86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7148" y="1722368"/>
            <a:ext cx="7999286" cy="844963"/>
            <a:chOff x="0" y="0"/>
            <a:chExt cx="10665714" cy="11266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665714" cy="1126617"/>
            </a:xfrm>
            <a:custGeom>
              <a:avLst/>
              <a:gdLst/>
              <a:ahLst/>
              <a:cxnLst/>
              <a:rect l="l" t="t" r="r" b="b"/>
              <a:pathLst>
                <a:path w="10665714" h="1126617">
                  <a:moveTo>
                    <a:pt x="0" y="0"/>
                  </a:moveTo>
                  <a:lnTo>
                    <a:pt x="10665714" y="0"/>
                  </a:lnTo>
                  <a:lnTo>
                    <a:pt x="10665714" y="1126617"/>
                  </a:lnTo>
                  <a:lnTo>
                    <a:pt x="0" y="112661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4336" b="-13433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74973" y="1527686"/>
            <a:ext cx="7999305" cy="837829"/>
            <a:chOff x="0" y="0"/>
            <a:chExt cx="10665739" cy="11171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65714" cy="1117092"/>
            </a:xfrm>
            <a:custGeom>
              <a:avLst/>
              <a:gdLst/>
              <a:ahLst/>
              <a:cxnLst/>
              <a:rect l="l" t="t" r="r" b="b"/>
              <a:pathLst>
                <a:path w="10665714" h="1117092">
                  <a:moveTo>
                    <a:pt x="0" y="0"/>
                  </a:moveTo>
                  <a:lnTo>
                    <a:pt x="10665714" y="0"/>
                  </a:lnTo>
                  <a:lnTo>
                    <a:pt x="10665714" y="1117092"/>
                  </a:lnTo>
                  <a:lnTo>
                    <a:pt x="0" y="1117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5908" b="-13591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74973" y="1534830"/>
            <a:ext cx="7999306" cy="947751"/>
            <a:chOff x="0" y="0"/>
            <a:chExt cx="10665740" cy="12636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665740" cy="1107580"/>
            </a:xfrm>
            <a:custGeom>
              <a:avLst/>
              <a:gdLst/>
              <a:ahLst/>
              <a:cxnLst/>
              <a:rect l="l" t="t" r="r" b="b"/>
              <a:pathLst>
                <a:path w="10665740" h="1107580">
                  <a:moveTo>
                    <a:pt x="0" y="0"/>
                  </a:moveTo>
                  <a:lnTo>
                    <a:pt x="10665740" y="0"/>
                  </a:lnTo>
                  <a:lnTo>
                    <a:pt x="10665740" y="1107580"/>
                  </a:lnTo>
                  <a:lnTo>
                    <a:pt x="0" y="1107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7636" b="-13763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165613"/>
              <a:ext cx="10665739" cy="10980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01"/>
                </a:lnSpc>
              </a:pPr>
              <a:r>
                <a:rPr lang="en-US" sz="4400" b="1" spc="-21" dirty="0"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rPr>
                <a:t>Viegnere Cipher 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022080" y="6583680"/>
            <a:ext cx="2194560" cy="389477"/>
            <a:chOff x="0" y="0"/>
            <a:chExt cx="2926080" cy="51930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926080" cy="519303"/>
            </a:xfrm>
            <a:custGeom>
              <a:avLst/>
              <a:gdLst/>
              <a:ahLst/>
              <a:cxnLst/>
              <a:rect l="l" t="t" r="r" b="b"/>
              <a:pathLst>
                <a:path w="2926080" h="519303">
                  <a:moveTo>
                    <a:pt x="0" y="0"/>
                  </a:moveTo>
                  <a:lnTo>
                    <a:pt x="2926080" y="0"/>
                  </a:lnTo>
                  <a:lnTo>
                    <a:pt x="2926080" y="519303"/>
                  </a:lnTo>
                  <a:lnTo>
                    <a:pt x="0" y="51930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657" b="-657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9022080" y="6555105"/>
            <a:ext cx="2194560" cy="418043"/>
            <a:chOff x="0" y="0"/>
            <a:chExt cx="2926080" cy="55739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26080" cy="557403"/>
            </a:xfrm>
            <a:custGeom>
              <a:avLst/>
              <a:gdLst/>
              <a:ahLst/>
              <a:cxnLst/>
              <a:rect l="l" t="t" r="r" b="b"/>
              <a:pathLst>
                <a:path w="2926080" h="557403">
                  <a:moveTo>
                    <a:pt x="0" y="0"/>
                  </a:moveTo>
                  <a:lnTo>
                    <a:pt x="2926080" y="0"/>
                  </a:lnTo>
                  <a:lnTo>
                    <a:pt x="2926080" y="557403"/>
                  </a:lnTo>
                  <a:lnTo>
                    <a:pt x="0" y="55740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09" b="-207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99130" y="342919"/>
            <a:ext cx="9074944" cy="1021080"/>
            <a:chOff x="0" y="0"/>
            <a:chExt cx="12099925" cy="1361440"/>
          </a:xfrm>
        </p:grpSpPr>
        <p:sp>
          <p:nvSpPr>
            <p:cNvPr id="18" name="Freeform 18" descr="SSE-Computer Science and Engineering"/>
            <p:cNvSpPr/>
            <p:nvPr/>
          </p:nvSpPr>
          <p:spPr>
            <a:xfrm>
              <a:off x="0" y="0"/>
              <a:ext cx="12099925" cy="1361440"/>
            </a:xfrm>
            <a:custGeom>
              <a:avLst/>
              <a:gdLst/>
              <a:ahLst/>
              <a:cxnLst/>
              <a:rect l="l" t="t" r="r" b="b"/>
              <a:pathLst>
                <a:path w="12099925" h="1361440">
                  <a:moveTo>
                    <a:pt x="0" y="0"/>
                  </a:moveTo>
                  <a:lnTo>
                    <a:pt x="12099925" y="0"/>
                  </a:lnTo>
                  <a:lnTo>
                    <a:pt x="12099925" y="1361440"/>
                  </a:lnTo>
                  <a:lnTo>
                    <a:pt x="0" y="1361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25" r="-425"/>
              </a:stretch>
            </a:blipFill>
          </p:spPr>
        </p:sp>
      </p:grpSp>
      <p:sp>
        <p:nvSpPr>
          <p:cNvPr id="20" name="Rectangle 19"/>
          <p:cNvSpPr/>
          <p:nvPr/>
        </p:nvSpPr>
        <p:spPr>
          <a:xfrm>
            <a:off x="1564432" y="2585703"/>
            <a:ext cx="367240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word: BEST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 Text: JAVATPOINT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Cipher text: ?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8"/>
          <a:srcRect t="3532"/>
          <a:stretch/>
        </p:blipFill>
        <p:spPr>
          <a:xfrm>
            <a:off x="1348408" y="3852973"/>
            <a:ext cx="6624736" cy="255212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48408" y="3624341"/>
            <a:ext cx="2219635" cy="20005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81501" y="3624341"/>
            <a:ext cx="2219635" cy="22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795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7148" y="1722368"/>
            <a:ext cx="7999286" cy="844963"/>
            <a:chOff x="0" y="0"/>
            <a:chExt cx="10665714" cy="11266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665714" cy="1126617"/>
            </a:xfrm>
            <a:custGeom>
              <a:avLst/>
              <a:gdLst/>
              <a:ahLst/>
              <a:cxnLst/>
              <a:rect l="l" t="t" r="r" b="b"/>
              <a:pathLst>
                <a:path w="10665714" h="1126617">
                  <a:moveTo>
                    <a:pt x="0" y="0"/>
                  </a:moveTo>
                  <a:lnTo>
                    <a:pt x="10665714" y="0"/>
                  </a:lnTo>
                  <a:lnTo>
                    <a:pt x="10665714" y="1126617"/>
                  </a:lnTo>
                  <a:lnTo>
                    <a:pt x="0" y="112661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4336" b="-13433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74973" y="1527686"/>
            <a:ext cx="7999305" cy="837829"/>
            <a:chOff x="0" y="0"/>
            <a:chExt cx="10665739" cy="11171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65714" cy="1117092"/>
            </a:xfrm>
            <a:custGeom>
              <a:avLst/>
              <a:gdLst/>
              <a:ahLst/>
              <a:cxnLst/>
              <a:rect l="l" t="t" r="r" b="b"/>
              <a:pathLst>
                <a:path w="10665714" h="1117092">
                  <a:moveTo>
                    <a:pt x="0" y="0"/>
                  </a:moveTo>
                  <a:lnTo>
                    <a:pt x="10665714" y="0"/>
                  </a:lnTo>
                  <a:lnTo>
                    <a:pt x="10665714" y="1117092"/>
                  </a:lnTo>
                  <a:lnTo>
                    <a:pt x="0" y="1117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5908" b="-13591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74973" y="1534830"/>
            <a:ext cx="7999306" cy="947751"/>
            <a:chOff x="0" y="0"/>
            <a:chExt cx="10665740" cy="12636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665740" cy="1107580"/>
            </a:xfrm>
            <a:custGeom>
              <a:avLst/>
              <a:gdLst/>
              <a:ahLst/>
              <a:cxnLst/>
              <a:rect l="l" t="t" r="r" b="b"/>
              <a:pathLst>
                <a:path w="10665740" h="1107580">
                  <a:moveTo>
                    <a:pt x="0" y="0"/>
                  </a:moveTo>
                  <a:lnTo>
                    <a:pt x="10665740" y="0"/>
                  </a:lnTo>
                  <a:lnTo>
                    <a:pt x="10665740" y="1107580"/>
                  </a:lnTo>
                  <a:lnTo>
                    <a:pt x="0" y="1107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7636" b="-13763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165613"/>
              <a:ext cx="10665739" cy="10980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01"/>
                </a:lnSpc>
              </a:pPr>
              <a:r>
                <a:rPr lang="en-US" sz="4400" b="1" spc="-21" dirty="0"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rPr>
                <a:t>Hill Cipher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022080" y="6583680"/>
            <a:ext cx="2194560" cy="389477"/>
            <a:chOff x="0" y="0"/>
            <a:chExt cx="2926080" cy="51930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926080" cy="519303"/>
            </a:xfrm>
            <a:custGeom>
              <a:avLst/>
              <a:gdLst/>
              <a:ahLst/>
              <a:cxnLst/>
              <a:rect l="l" t="t" r="r" b="b"/>
              <a:pathLst>
                <a:path w="2926080" h="519303">
                  <a:moveTo>
                    <a:pt x="0" y="0"/>
                  </a:moveTo>
                  <a:lnTo>
                    <a:pt x="2926080" y="0"/>
                  </a:lnTo>
                  <a:lnTo>
                    <a:pt x="2926080" y="519303"/>
                  </a:lnTo>
                  <a:lnTo>
                    <a:pt x="0" y="51930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657" b="-657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9022080" y="6555105"/>
            <a:ext cx="2194560" cy="418043"/>
            <a:chOff x="0" y="0"/>
            <a:chExt cx="2926080" cy="55739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26080" cy="557403"/>
            </a:xfrm>
            <a:custGeom>
              <a:avLst/>
              <a:gdLst/>
              <a:ahLst/>
              <a:cxnLst/>
              <a:rect l="l" t="t" r="r" b="b"/>
              <a:pathLst>
                <a:path w="2926080" h="557403">
                  <a:moveTo>
                    <a:pt x="0" y="0"/>
                  </a:moveTo>
                  <a:lnTo>
                    <a:pt x="2926080" y="0"/>
                  </a:lnTo>
                  <a:lnTo>
                    <a:pt x="2926080" y="557403"/>
                  </a:lnTo>
                  <a:lnTo>
                    <a:pt x="0" y="55740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09" b="-207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99130" y="342919"/>
            <a:ext cx="9074944" cy="1021080"/>
            <a:chOff x="0" y="0"/>
            <a:chExt cx="12099925" cy="1361440"/>
          </a:xfrm>
        </p:grpSpPr>
        <p:sp>
          <p:nvSpPr>
            <p:cNvPr id="18" name="Freeform 18" descr="SSE-Computer Science and Engineering"/>
            <p:cNvSpPr/>
            <p:nvPr/>
          </p:nvSpPr>
          <p:spPr>
            <a:xfrm>
              <a:off x="0" y="0"/>
              <a:ext cx="12099925" cy="1361440"/>
            </a:xfrm>
            <a:custGeom>
              <a:avLst/>
              <a:gdLst/>
              <a:ahLst/>
              <a:cxnLst/>
              <a:rect l="l" t="t" r="r" b="b"/>
              <a:pathLst>
                <a:path w="12099925" h="1361440">
                  <a:moveTo>
                    <a:pt x="0" y="0"/>
                  </a:moveTo>
                  <a:lnTo>
                    <a:pt x="12099925" y="0"/>
                  </a:lnTo>
                  <a:lnTo>
                    <a:pt x="12099925" y="1361440"/>
                  </a:lnTo>
                  <a:lnTo>
                    <a:pt x="0" y="1361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25" r="-425"/>
              </a:stretch>
            </a:blipFill>
          </p:spPr>
        </p:sp>
      </p:grpSp>
      <p:sp>
        <p:nvSpPr>
          <p:cNvPr id="21" name="Rectangle 20"/>
          <p:cNvSpPr/>
          <p:nvPr/>
        </p:nvSpPr>
        <p:spPr>
          <a:xfrm>
            <a:off x="774973" y="2433464"/>
            <a:ext cx="68407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Formula: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64432" y="2793504"/>
            <a:ext cx="2479363" cy="71156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2395" y="3731243"/>
            <a:ext cx="7128792" cy="2572109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04284" y="2708754"/>
            <a:ext cx="2699708" cy="96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960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529945" y="3184998"/>
            <a:ext cx="14813470" cy="1399889"/>
            <a:chOff x="0" y="0"/>
            <a:chExt cx="19751294" cy="18665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751294" cy="1866519"/>
            </a:xfrm>
            <a:custGeom>
              <a:avLst/>
              <a:gdLst/>
              <a:ahLst/>
              <a:cxnLst/>
              <a:rect l="l" t="t" r="r" b="b"/>
              <a:pathLst>
                <a:path w="19751294" h="1866519">
                  <a:moveTo>
                    <a:pt x="0" y="0"/>
                  </a:moveTo>
                  <a:lnTo>
                    <a:pt x="19751294" y="0"/>
                  </a:lnTo>
                  <a:lnTo>
                    <a:pt x="19751294" y="1866519"/>
                  </a:lnTo>
                  <a:lnTo>
                    <a:pt x="0" y="18665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6045" b="-15604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2529945" y="3251140"/>
            <a:ext cx="14813490" cy="1333786"/>
            <a:chOff x="0" y="0"/>
            <a:chExt cx="19751319" cy="177838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751294" cy="1778381"/>
            </a:xfrm>
            <a:custGeom>
              <a:avLst/>
              <a:gdLst/>
              <a:ahLst/>
              <a:cxnLst/>
              <a:rect l="l" t="t" r="r" b="b"/>
              <a:pathLst>
                <a:path w="19751294" h="1778381">
                  <a:moveTo>
                    <a:pt x="0" y="0"/>
                  </a:moveTo>
                  <a:lnTo>
                    <a:pt x="19751294" y="0"/>
                  </a:lnTo>
                  <a:lnTo>
                    <a:pt x="19751294" y="1778381"/>
                  </a:lnTo>
                  <a:lnTo>
                    <a:pt x="0" y="17783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6257" b="-166257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-2529945" y="3286858"/>
            <a:ext cx="14813490" cy="1298067"/>
            <a:chOff x="0" y="0"/>
            <a:chExt cx="19751319" cy="173075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751320" cy="1730756"/>
            </a:xfrm>
            <a:custGeom>
              <a:avLst/>
              <a:gdLst/>
              <a:ahLst/>
              <a:cxnLst/>
              <a:rect l="l" t="t" r="r" b="b"/>
              <a:pathLst>
                <a:path w="19751320" h="1730756">
                  <a:moveTo>
                    <a:pt x="0" y="0"/>
                  </a:moveTo>
                  <a:lnTo>
                    <a:pt x="19751320" y="0"/>
                  </a:lnTo>
                  <a:lnTo>
                    <a:pt x="19751320" y="1730756"/>
                  </a:lnTo>
                  <a:lnTo>
                    <a:pt x="0" y="17307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72362" b="-172362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47625"/>
              <a:ext cx="19751319" cy="16831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558"/>
                </a:lnSpc>
              </a:pPr>
              <a:r>
                <a:rPr lang="en-US" sz="6998" b="1" spc="-42" dirty="0">
                  <a:latin typeface="Times New Roman"/>
                  <a:ea typeface="Times New Roman"/>
                  <a:cs typeface="Times New Roman"/>
                  <a:sym typeface="Times New Roman"/>
                </a:rPr>
                <a:t>Thank you 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876452" y="6780105"/>
            <a:ext cx="2194560" cy="389477"/>
            <a:chOff x="0" y="0"/>
            <a:chExt cx="2926080" cy="51930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926080" cy="519303"/>
            </a:xfrm>
            <a:custGeom>
              <a:avLst/>
              <a:gdLst/>
              <a:ahLst/>
              <a:cxnLst/>
              <a:rect l="l" t="t" r="r" b="b"/>
              <a:pathLst>
                <a:path w="2926080" h="519303">
                  <a:moveTo>
                    <a:pt x="0" y="0"/>
                  </a:moveTo>
                  <a:lnTo>
                    <a:pt x="2926080" y="0"/>
                  </a:lnTo>
                  <a:lnTo>
                    <a:pt x="2926080" y="519303"/>
                  </a:lnTo>
                  <a:lnTo>
                    <a:pt x="0" y="51930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657" b="-657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8876452" y="6751530"/>
            <a:ext cx="2194560" cy="418043"/>
            <a:chOff x="0" y="0"/>
            <a:chExt cx="2926080" cy="55739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926080" cy="557403"/>
            </a:xfrm>
            <a:custGeom>
              <a:avLst/>
              <a:gdLst/>
              <a:ahLst/>
              <a:cxnLst/>
              <a:rect l="l" t="t" r="r" b="b"/>
              <a:pathLst>
                <a:path w="2926080" h="557403">
                  <a:moveTo>
                    <a:pt x="0" y="0"/>
                  </a:moveTo>
                  <a:lnTo>
                    <a:pt x="2926080" y="0"/>
                  </a:lnTo>
                  <a:lnTo>
                    <a:pt x="2926080" y="557403"/>
                  </a:lnTo>
                  <a:lnTo>
                    <a:pt x="0" y="55740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09" b="-207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217418" y="378628"/>
            <a:ext cx="9318784" cy="1046512"/>
            <a:chOff x="0" y="0"/>
            <a:chExt cx="12425045" cy="1395349"/>
          </a:xfrm>
        </p:grpSpPr>
        <p:sp>
          <p:nvSpPr>
            <p:cNvPr id="14" name="Freeform 14" descr="SSE-Computer Science and Engineering"/>
            <p:cNvSpPr/>
            <p:nvPr/>
          </p:nvSpPr>
          <p:spPr>
            <a:xfrm>
              <a:off x="0" y="0"/>
              <a:ext cx="12425045" cy="1395349"/>
            </a:xfrm>
            <a:custGeom>
              <a:avLst/>
              <a:gdLst/>
              <a:ahLst/>
              <a:cxnLst/>
              <a:rect l="l" t="t" r="r" b="b"/>
              <a:pathLst>
                <a:path w="12425045" h="1395349">
                  <a:moveTo>
                    <a:pt x="0" y="0"/>
                  </a:moveTo>
                  <a:lnTo>
                    <a:pt x="12425045" y="0"/>
                  </a:lnTo>
                  <a:lnTo>
                    <a:pt x="12425045" y="1395349"/>
                  </a:lnTo>
                  <a:lnTo>
                    <a:pt x="0" y="13953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329" r="-329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640</TotalTime>
  <Words>189</Words>
  <Application>Microsoft Office PowerPoint</Application>
  <PresentationFormat>Custom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Times New Roman</vt:lpstr>
      <vt:lpstr>Arial</vt:lpstr>
      <vt:lpstr>Wingdings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4</dc:title>
  <dc:creator>hii</dc:creator>
  <cp:lastModifiedBy>HEMALATHA GOPI</cp:lastModifiedBy>
  <cp:revision>50</cp:revision>
  <dcterms:created xsi:type="dcterms:W3CDTF">2006-08-16T00:00:00Z</dcterms:created>
  <dcterms:modified xsi:type="dcterms:W3CDTF">2026-07-17T08:39:55Z</dcterms:modified>
  <dc:identifier>DAHDIVhCkxs</dc:identifier>
</cp:coreProperties>
</file>